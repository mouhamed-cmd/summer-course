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27"/>
  </p:notesMasterIdLst>
  <p:sldIdLst>
    <p:sldId id="271" r:id="rId2"/>
    <p:sldId id="272" r:id="rId3"/>
    <p:sldId id="274" r:id="rId4"/>
    <p:sldId id="275" r:id="rId5"/>
    <p:sldId id="276" r:id="rId6"/>
    <p:sldId id="273" r:id="rId7"/>
    <p:sldId id="277" r:id="rId8"/>
    <p:sldId id="278" r:id="rId9"/>
    <p:sldId id="279" r:id="rId10"/>
    <p:sldId id="280" r:id="rId11"/>
    <p:sldId id="282" r:id="rId12"/>
    <p:sldId id="283" r:id="rId13"/>
    <p:sldId id="286" r:id="rId14"/>
    <p:sldId id="285" r:id="rId15"/>
    <p:sldId id="287" r:id="rId16"/>
    <p:sldId id="288" r:id="rId17"/>
    <p:sldId id="289" r:id="rId18"/>
    <p:sldId id="291" r:id="rId19"/>
    <p:sldId id="292" r:id="rId20"/>
    <p:sldId id="295" r:id="rId21"/>
    <p:sldId id="293" r:id="rId22"/>
    <p:sldId id="296" r:id="rId23"/>
    <p:sldId id="294" r:id="rId24"/>
    <p:sldId id="290" r:id="rId25"/>
    <p:sldId id="29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1"/>
    <p:restoredTop sz="89194" autoAdjust="0"/>
  </p:normalViewPr>
  <p:slideViewPr>
    <p:cSldViewPr snapToGrid="0">
      <p:cViewPr varScale="1">
        <p:scale>
          <a:sx n="73" d="100"/>
          <a:sy n="73" d="100"/>
        </p:scale>
        <p:origin x="10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2F5B96-EC90-4B10-91AC-E32DA21E81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457D5F-ED05-449E-97D0-205DAB987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514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next three slides are real errors from AI Techs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457D5F-ED05-449E-97D0-205DAB98724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062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10 July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0814207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10 July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180891" y="104975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9" y="1974220"/>
            <a:ext cx="7173383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1246377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10 July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8983168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9"/>
            <a:ext cx="67951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10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13415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10 July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23188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10 July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1758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10 July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27886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9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10 July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20369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10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9842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10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23454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10 July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1974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10 July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14845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10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97708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10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7990170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10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12209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10 July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51389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10 July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33929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6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6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6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10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4600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10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5120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10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1041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10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6830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10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7361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10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9821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10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367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10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63185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10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9173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10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83873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10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6206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9" y="4819415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10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883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6445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 type="blank" preserve="1">
  <p:cSld name="DEFAUL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838552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D8C2E-661D-51E2-ED90-348CF28AB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99564-2BF9-8DCD-A28E-9381CAF6C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3C069-210D-286C-4C3D-4A1E6D372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C136A-C674-A923-5AF9-6FA911403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9792A-A4FA-3A54-7252-A8321589E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068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2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l="26274" t="67"/>
          <a:stretch>
            <a:fillRect/>
          </a:stretch>
        </p:blipFill>
        <p:spPr>
          <a:xfrm>
            <a:off x="10428515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9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10 July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7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926021" y="424087"/>
            <a:ext cx="502495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515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  <p:sldLayoutId id="2147483720" r:id="rId25"/>
    <p:sldLayoutId id="2147483721" r:id="rId26"/>
    <p:sldLayoutId id="2147483722" r:id="rId27"/>
    <p:sldLayoutId id="2147483723" r:id="rId28"/>
    <p:sldLayoutId id="2147483724" r:id="rId29"/>
    <p:sldLayoutId id="2147483725" r:id="rId30"/>
    <p:sldLayoutId id="2147483726" r:id="rId31"/>
    <p:sldLayoutId id="2147483729" r:id="rId32"/>
  </p:sldLayoutIdLst>
  <p:hf sldNum="0"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75" indent="-182875" algn="l" defTabSz="914377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51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26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02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5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28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0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879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" TargetMode="External"/><Relationship Id="rId2" Type="http://schemas.openxmlformats.org/officeDocument/2006/relationships/hyperlink" Target="https://docs.python.org/3.14/library/functions.html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jpeg"/><Relationship Id="rId4" Type="http://schemas.openxmlformats.org/officeDocument/2006/relationships/hyperlink" Target="https://learn.microsoft.com/en-us/cli/azure/?view=azure-cli-latest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EDCD1-8A82-A4DE-9B35-46F95FAC732A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10 July 2026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FC473F-A75E-4DC2-8570-AE774BD728DD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46ADB6E-BC56-3C27-2A0A-35E73FABB31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0C6FBC6-02EE-BCAB-F4BE-55F08C231556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56DB708A-C949-6DA8-7139-3FAEFE5543C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F6B6007-9D1F-7104-8708-45C298040D8D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55FE557-4866-5BB4-DE77-8B5E492D4B8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39878FC-6A61-CBFA-CF81-AFF5AADAE7F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D06296EC-84C6-B6A8-6DB1-BB87913418B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96230E08-95C7-1ABC-04DD-B3E672470440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394E5925-AC66-068E-AB62-596C94A1D05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817C8C24-7523-5A3A-4E24-6498DA2B0172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DAC0F52-3870-8062-386A-70842807E7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Reading</a:t>
            </a:r>
          </a:p>
        </p:txBody>
      </p:sp>
      <p:sp>
        <p:nvSpPr>
          <p:cNvPr id="17" name="Subtitle 16">
            <a:extLst>
              <a:ext uri="{FF2B5EF4-FFF2-40B4-BE49-F238E27FC236}">
                <a16:creationId xmlns:a16="http://schemas.microsoft.com/office/drawing/2014/main" id="{D5532DA0-C4AC-25AE-AF0A-F96DF3B9D3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853BCC7-1D6B-DEF8-193A-1457935068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738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0C934-2ECF-7489-9A80-BD15C8A42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7FFE86A-2234-8E3B-88B4-3A4EEF395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 and discuss how error messages are structured</a:t>
            </a:r>
          </a:p>
          <a:p>
            <a:r>
              <a:rPr lang="en-US" dirty="0"/>
              <a:t>Utilize software documentation to implement a solution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994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5758A-6E16-3318-23B1-550091320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/ 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55F68-4BE5-FD42-1DB4-113C5EF98E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Applications need to present information to the user…</a:t>
            </a:r>
          </a:p>
          <a:p>
            <a:r>
              <a:rPr lang="en-US" dirty="0"/>
              <a:t>In a GUI </a:t>
            </a:r>
            <a:r>
              <a:rPr lang="en-US" dirty="0">
                <a:sym typeface="Wingdings" panose="05000000000000000000" pitchFamily="2" charset="2"/>
              </a:rPr>
              <a:t> pop-up</a:t>
            </a:r>
          </a:p>
          <a:p>
            <a:r>
              <a:rPr lang="en-US" dirty="0"/>
              <a:t>In a CLI…</a:t>
            </a:r>
          </a:p>
          <a:p>
            <a:r>
              <a:rPr lang="en-US" dirty="0"/>
              <a:t>Some messages are useful, some are not</a:t>
            </a:r>
          </a:p>
        </p:txBody>
      </p:sp>
      <p:pic>
        <p:nvPicPr>
          <p:cNvPr id="5" name="Content Placeholder 4" descr="How to write useful error messages - James Cleaver">
            <a:extLst>
              <a:ext uri="{FF2B5EF4-FFF2-40B4-BE49-F238E27FC236}">
                <a16:creationId xmlns:a16="http://schemas.microsoft.com/office/drawing/2014/main" id="{786958DB-04D5-4074-F4D9-95BC217DFE6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689600" y="2283372"/>
            <a:ext cx="65024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836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9B0DB-70F6-C6D0-A5BA-59BB90A5F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 Be Success…</a:t>
            </a:r>
            <a:br>
              <a:rPr lang="en-US"/>
            </a:br>
            <a:r>
              <a:rPr lang="en-US"/>
              <a:t>Or Not To Be Success…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10395C4-DCBC-DE85-0456-65D6339F428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334793"/>
            <a:ext cx="7680960" cy="5059832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1FD2327-8053-10B4-39E9-3CF82503510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44" y="1325881"/>
            <a:ext cx="8231292" cy="53899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117C01D-460D-2BE7-0809-DD808ACFFA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380" y="1634588"/>
            <a:ext cx="10343359" cy="12113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EDD4340-BAC3-6146-8467-8D07C56804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679" y="1543800"/>
            <a:ext cx="10214059" cy="2947543"/>
          </a:xfrm>
          <a:prstGeom prst="rect">
            <a:avLst/>
          </a:prstGeom>
        </p:spPr>
      </p:pic>
      <p:pic>
        <p:nvPicPr>
          <p:cNvPr id="14" name="Picture 13" descr="What Are Linux Log Files and How Can You Read Them?">
            <a:extLst>
              <a:ext uri="{FF2B5EF4-FFF2-40B4-BE49-F238E27FC236}">
                <a16:creationId xmlns:a16="http://schemas.microsoft.com/office/drawing/2014/main" id="{11CC4DA5-3A51-C413-A135-1819790589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1234" y="1543017"/>
            <a:ext cx="10522126" cy="5314983"/>
          </a:xfrm>
          <a:prstGeom prst="rect">
            <a:avLst/>
          </a:prstGeom>
        </p:spPr>
      </p:pic>
      <p:pic>
        <p:nvPicPr>
          <p:cNvPr id="15" name="Picture 14" descr="Manually Add Messages To Linux System Log Files - OSTechNix">
            <a:extLst>
              <a:ext uri="{FF2B5EF4-FFF2-40B4-BE49-F238E27FC236}">
                <a16:creationId xmlns:a16="http://schemas.microsoft.com/office/drawing/2014/main" id="{30393AF0-EA97-F920-3A12-50DD638D41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7411" y="1703068"/>
            <a:ext cx="10117882" cy="5052657"/>
          </a:xfrm>
          <a:prstGeom prst="rect">
            <a:avLst/>
          </a:prstGeom>
        </p:spPr>
      </p:pic>
      <p:pic>
        <p:nvPicPr>
          <p:cNvPr id="18" name="Picture 17" descr="Task failed successfully : r/MemeRestoration">
            <a:extLst>
              <a:ext uri="{FF2B5EF4-FFF2-40B4-BE49-F238E27FC236}">
                <a16:creationId xmlns:a16="http://schemas.microsoft.com/office/drawing/2014/main" id="{C6CEE4D2-A426-EAFA-3340-9FE152167D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4000" y="1628758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330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8845C-2915-95EB-5D9A-AB7C0F18E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81613-9791-5AA3-9177-06E5CC9FD5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All UI/UX come from software</a:t>
            </a:r>
          </a:p>
          <a:p>
            <a:r>
              <a:rPr lang="en-US" dirty="0"/>
              <a:t>Software is written by humans</a:t>
            </a:r>
          </a:p>
          <a:p>
            <a:r>
              <a:rPr lang="en-US" dirty="0"/>
              <a:t>Humans are… human</a:t>
            </a:r>
          </a:p>
          <a:p>
            <a:pPr lvl="1"/>
            <a:r>
              <a:rPr lang="en-US" dirty="0"/>
              <a:t>Cannot anticipate all outcomes</a:t>
            </a:r>
          </a:p>
          <a:p>
            <a:pPr lvl="1"/>
            <a:r>
              <a:rPr lang="en-US" dirty="0"/>
              <a:t>Cannot anticipate the myriad of ways users will mess it up</a:t>
            </a:r>
          </a:p>
          <a:p>
            <a:pPr lvl="1"/>
            <a:r>
              <a:rPr lang="en-US" dirty="0"/>
              <a:t>Sometimes wrong! 🤷</a:t>
            </a:r>
          </a:p>
        </p:txBody>
      </p:sp>
      <p:pic>
        <p:nvPicPr>
          <p:cNvPr id="5" name="Content Placeholder 4" descr="Developer Vs User: The Eternal UI Comedy · ProgrammerHumor.io">
            <a:extLst>
              <a:ext uri="{FF2B5EF4-FFF2-40B4-BE49-F238E27FC236}">
                <a16:creationId xmlns:a16="http://schemas.microsoft.com/office/drawing/2014/main" id="{85E49605-630D-E87B-D3B2-EA31ACD7A4E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81234" y="1600200"/>
            <a:ext cx="3621881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663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D42CA-3C94-562E-B7A5-9CEB18B40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(Error) Messages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313A4-5B32-5E6A-C0C0-50E207C5DD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2646506" cy="4572000"/>
          </a:xfrm>
        </p:spPr>
        <p:txBody>
          <a:bodyPr/>
          <a:lstStyle/>
          <a:p>
            <a:r>
              <a:rPr lang="en-US" dirty="0"/>
              <a:t>General types:</a:t>
            </a:r>
          </a:p>
          <a:p>
            <a:pPr lvl="1"/>
            <a:r>
              <a:rPr lang="en-US" i="1" dirty="0"/>
              <a:t>Programming/software</a:t>
            </a:r>
          </a:p>
          <a:p>
            <a:pPr lvl="2"/>
            <a:r>
              <a:rPr lang="en-US" dirty="0"/>
              <a:t>Syntax</a:t>
            </a:r>
          </a:p>
          <a:p>
            <a:pPr lvl="2"/>
            <a:r>
              <a:rPr lang="en-US" dirty="0"/>
              <a:t>Runtime</a:t>
            </a:r>
          </a:p>
          <a:p>
            <a:pPr lvl="2"/>
            <a:r>
              <a:rPr lang="en-US" dirty="0"/>
              <a:t>Logic</a:t>
            </a:r>
          </a:p>
          <a:p>
            <a:pPr lvl="1"/>
            <a:r>
              <a:rPr lang="en-US" i="1" dirty="0"/>
              <a:t>Permissions</a:t>
            </a:r>
          </a:p>
          <a:p>
            <a:pPr lvl="2"/>
            <a:r>
              <a:rPr lang="en-US" dirty="0"/>
              <a:t>Resource</a:t>
            </a:r>
          </a:p>
          <a:p>
            <a:pPr lvl="2"/>
            <a:r>
              <a:rPr lang="en-US" dirty="0"/>
              <a:t>Action</a:t>
            </a:r>
          </a:p>
          <a:p>
            <a:pPr lvl="1"/>
            <a:r>
              <a:rPr lang="en-US" i="1" dirty="0"/>
              <a:t>Data</a:t>
            </a:r>
          </a:p>
          <a:p>
            <a:pPr lvl="2"/>
            <a:r>
              <a:rPr lang="en-US" dirty="0"/>
              <a:t>Integrity</a:t>
            </a:r>
          </a:p>
          <a:p>
            <a:pPr lvl="2"/>
            <a:r>
              <a:rPr lang="en-US" dirty="0"/>
              <a:t>Format</a:t>
            </a:r>
          </a:p>
          <a:p>
            <a:pPr lvl="1"/>
            <a:r>
              <a:rPr lang="en-US" i="1" dirty="0"/>
              <a:t>Time-based</a:t>
            </a:r>
          </a:p>
          <a:p>
            <a:pPr lvl="2"/>
            <a:r>
              <a:rPr lang="en-US" dirty="0"/>
              <a:t>Deadlock</a:t>
            </a:r>
          </a:p>
          <a:p>
            <a:pPr lvl="2"/>
            <a:r>
              <a:rPr lang="en-US" dirty="0"/>
              <a:t>Timeout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6CF25B-8C8A-5387-B998-D6D10E5B01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684986"/>
          </a:xfrm>
        </p:spPr>
        <p:txBody>
          <a:bodyPr/>
          <a:lstStyle/>
          <a:p>
            <a:r>
              <a:rPr lang="en-US" dirty="0"/>
              <a:t>Severity</a:t>
            </a:r>
          </a:p>
          <a:p>
            <a:pPr lvl="1"/>
            <a:r>
              <a:rPr lang="en-US" dirty="0"/>
              <a:t>Critical</a:t>
            </a:r>
          </a:p>
          <a:p>
            <a:pPr lvl="1"/>
            <a:r>
              <a:rPr lang="en-US" dirty="0"/>
              <a:t>Warning</a:t>
            </a:r>
          </a:p>
          <a:p>
            <a:pPr lvl="1"/>
            <a:r>
              <a:rPr lang="en-US" dirty="0"/>
              <a:t>Informational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The context changes if you’re a developer or user</a:t>
            </a:r>
          </a:p>
        </p:txBody>
      </p:sp>
    </p:spTree>
    <p:extLst>
      <p:ext uri="{BB962C8B-B14F-4D97-AF65-F5344CB8AC3E}">
        <p14:creationId xmlns:p14="http://schemas.microsoft.com/office/powerpoint/2010/main" val="3171477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B7C2D-0F4B-970A-CB04-9F35B7AEF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9AE84C-D942-7E2C-21B4-993D44DBFB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52193" y="1600200"/>
            <a:ext cx="7891166" cy="45720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[INFO] Parsing configuration file...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[ERROR] Unexpected token '}' at line 42.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[ERROR] Parsing aborted.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[INFO] Application terminated.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5EC0108-BA56-DFED-327D-56A5D8590F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9276" y="1600200"/>
            <a:ext cx="2656380" cy="4572000"/>
          </a:xfrm>
        </p:spPr>
        <p:txBody>
          <a:bodyPr/>
          <a:lstStyle/>
          <a:p>
            <a:r>
              <a:rPr lang="en-US" dirty="0"/>
              <a:t>General types:</a:t>
            </a:r>
          </a:p>
          <a:p>
            <a:pPr lvl="1"/>
            <a:r>
              <a:rPr lang="en-US" i="1" dirty="0"/>
              <a:t>Programming/software</a:t>
            </a:r>
          </a:p>
          <a:p>
            <a:pPr lvl="2"/>
            <a:r>
              <a:rPr lang="en-US" dirty="0"/>
              <a:t>Syntax</a:t>
            </a:r>
          </a:p>
          <a:p>
            <a:pPr lvl="2"/>
            <a:r>
              <a:rPr lang="en-US" dirty="0"/>
              <a:t>Runtime</a:t>
            </a:r>
          </a:p>
          <a:p>
            <a:pPr lvl="2"/>
            <a:r>
              <a:rPr lang="en-US" dirty="0"/>
              <a:t>Logic</a:t>
            </a:r>
          </a:p>
          <a:p>
            <a:pPr lvl="1"/>
            <a:r>
              <a:rPr lang="en-US" i="1" dirty="0"/>
              <a:t>Permissions</a:t>
            </a:r>
          </a:p>
          <a:p>
            <a:pPr lvl="2"/>
            <a:r>
              <a:rPr lang="en-US" dirty="0"/>
              <a:t>Resource</a:t>
            </a:r>
          </a:p>
          <a:p>
            <a:pPr lvl="2"/>
            <a:r>
              <a:rPr lang="en-US" dirty="0"/>
              <a:t>Action</a:t>
            </a:r>
          </a:p>
          <a:p>
            <a:pPr lvl="1"/>
            <a:r>
              <a:rPr lang="en-US" i="1" dirty="0"/>
              <a:t>Data</a:t>
            </a:r>
          </a:p>
          <a:p>
            <a:pPr lvl="2"/>
            <a:r>
              <a:rPr lang="en-US" dirty="0"/>
              <a:t>Integrity</a:t>
            </a:r>
          </a:p>
          <a:p>
            <a:pPr lvl="2"/>
            <a:r>
              <a:rPr lang="en-US" dirty="0"/>
              <a:t>Format</a:t>
            </a:r>
          </a:p>
          <a:p>
            <a:pPr lvl="1"/>
            <a:r>
              <a:rPr lang="en-US" i="1" dirty="0"/>
              <a:t>Time-based</a:t>
            </a:r>
          </a:p>
          <a:p>
            <a:pPr lvl="2"/>
            <a:r>
              <a:rPr lang="en-US" dirty="0"/>
              <a:t>Deadlock</a:t>
            </a:r>
          </a:p>
          <a:p>
            <a:pPr lvl="2"/>
            <a:r>
              <a:rPr lang="en-US" dirty="0"/>
              <a:t>Timeout</a:t>
            </a:r>
          </a:p>
        </p:txBody>
      </p:sp>
    </p:spTree>
    <p:extLst>
      <p:ext uri="{BB962C8B-B14F-4D97-AF65-F5344CB8AC3E}">
        <p14:creationId xmlns:p14="http://schemas.microsoft.com/office/powerpoint/2010/main" val="2448023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9E38A-3F24-A519-4916-C1ECA646B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38CE9-F17D-B3DE-F97F-E2EC35CE9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70B954-FF68-5DFF-DABE-74B6B71C84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52193" y="1600200"/>
            <a:ext cx="7891166" cy="45720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[INFO] Processing request #1287...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[ERROR]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NullReferenceException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Object reference not set to an instance of an object.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Stack trace: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at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UserService.GetProfile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D20074-4296-094B-7769-D11DFBB10C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9276" y="1600200"/>
            <a:ext cx="2656380" cy="4572000"/>
          </a:xfrm>
        </p:spPr>
        <p:txBody>
          <a:bodyPr/>
          <a:lstStyle/>
          <a:p>
            <a:r>
              <a:rPr lang="en-US" dirty="0"/>
              <a:t>General types:</a:t>
            </a:r>
          </a:p>
          <a:p>
            <a:pPr lvl="1"/>
            <a:r>
              <a:rPr lang="en-US" i="1" dirty="0"/>
              <a:t>Programming/software</a:t>
            </a:r>
          </a:p>
          <a:p>
            <a:pPr lvl="2"/>
            <a:r>
              <a:rPr lang="en-US" dirty="0"/>
              <a:t>Syntax</a:t>
            </a:r>
          </a:p>
          <a:p>
            <a:pPr lvl="2"/>
            <a:r>
              <a:rPr lang="en-US" dirty="0"/>
              <a:t>Runtime</a:t>
            </a:r>
          </a:p>
          <a:p>
            <a:pPr lvl="2"/>
            <a:r>
              <a:rPr lang="en-US" dirty="0"/>
              <a:t>Logic</a:t>
            </a:r>
          </a:p>
          <a:p>
            <a:pPr lvl="1"/>
            <a:r>
              <a:rPr lang="en-US" i="1" dirty="0"/>
              <a:t>Permissions</a:t>
            </a:r>
          </a:p>
          <a:p>
            <a:pPr lvl="2"/>
            <a:r>
              <a:rPr lang="en-US" dirty="0"/>
              <a:t>Resource</a:t>
            </a:r>
          </a:p>
          <a:p>
            <a:pPr lvl="2"/>
            <a:r>
              <a:rPr lang="en-US" dirty="0"/>
              <a:t>Action</a:t>
            </a:r>
          </a:p>
          <a:p>
            <a:pPr lvl="1"/>
            <a:r>
              <a:rPr lang="en-US" i="1" dirty="0"/>
              <a:t>Data</a:t>
            </a:r>
          </a:p>
          <a:p>
            <a:pPr lvl="2"/>
            <a:r>
              <a:rPr lang="en-US" dirty="0"/>
              <a:t>Integrity</a:t>
            </a:r>
          </a:p>
          <a:p>
            <a:pPr lvl="2"/>
            <a:r>
              <a:rPr lang="en-US" dirty="0"/>
              <a:t>Format</a:t>
            </a:r>
          </a:p>
          <a:p>
            <a:pPr lvl="1"/>
            <a:r>
              <a:rPr lang="en-US" i="1" dirty="0"/>
              <a:t>Time-based</a:t>
            </a:r>
          </a:p>
          <a:p>
            <a:pPr lvl="2"/>
            <a:r>
              <a:rPr lang="en-US" dirty="0"/>
              <a:t>Deadlock</a:t>
            </a:r>
          </a:p>
          <a:p>
            <a:pPr lvl="2"/>
            <a:r>
              <a:rPr lang="en-US" dirty="0"/>
              <a:t>Timeout</a:t>
            </a:r>
          </a:p>
        </p:txBody>
      </p:sp>
    </p:spTree>
    <p:extLst>
      <p:ext uri="{BB962C8B-B14F-4D97-AF65-F5344CB8AC3E}">
        <p14:creationId xmlns:p14="http://schemas.microsoft.com/office/powerpoint/2010/main" val="1514595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14CC1-6E4C-2000-A7B5-326557F77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AF067-F309-7B1A-23D4-080C9670B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18BC5D-F319-1E2D-95F1-76523259F2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52193" y="1600200"/>
            <a:ext cx="7891166" cy="45720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[INFO] User requested 'Delete Project’.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[ERROR] User not authorized to ‘delete’.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6EE7076-4D17-EA3D-8818-8CEC67A2F1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9276" y="1600200"/>
            <a:ext cx="2656380" cy="4572000"/>
          </a:xfrm>
        </p:spPr>
        <p:txBody>
          <a:bodyPr/>
          <a:lstStyle/>
          <a:p>
            <a:r>
              <a:rPr lang="en-US" dirty="0"/>
              <a:t>General types:</a:t>
            </a:r>
          </a:p>
          <a:p>
            <a:pPr lvl="1"/>
            <a:r>
              <a:rPr lang="en-US" i="1" dirty="0"/>
              <a:t>Programming/software</a:t>
            </a:r>
          </a:p>
          <a:p>
            <a:pPr lvl="2"/>
            <a:r>
              <a:rPr lang="en-US" dirty="0"/>
              <a:t>Syntax</a:t>
            </a:r>
          </a:p>
          <a:p>
            <a:pPr lvl="2"/>
            <a:r>
              <a:rPr lang="en-US" dirty="0"/>
              <a:t>Runtime</a:t>
            </a:r>
          </a:p>
          <a:p>
            <a:pPr lvl="2"/>
            <a:r>
              <a:rPr lang="en-US" dirty="0"/>
              <a:t>Logic</a:t>
            </a:r>
          </a:p>
          <a:p>
            <a:pPr lvl="1"/>
            <a:r>
              <a:rPr lang="en-US" i="1" dirty="0"/>
              <a:t>Permissions</a:t>
            </a:r>
          </a:p>
          <a:p>
            <a:pPr lvl="2"/>
            <a:r>
              <a:rPr lang="en-US" dirty="0"/>
              <a:t>Resource</a:t>
            </a:r>
          </a:p>
          <a:p>
            <a:pPr lvl="2"/>
            <a:r>
              <a:rPr lang="en-US" dirty="0"/>
              <a:t>Action</a:t>
            </a:r>
          </a:p>
          <a:p>
            <a:pPr lvl="1"/>
            <a:r>
              <a:rPr lang="en-US" i="1" dirty="0"/>
              <a:t>Data</a:t>
            </a:r>
          </a:p>
          <a:p>
            <a:pPr lvl="2"/>
            <a:r>
              <a:rPr lang="en-US" dirty="0"/>
              <a:t>Integrity</a:t>
            </a:r>
          </a:p>
          <a:p>
            <a:pPr lvl="2"/>
            <a:r>
              <a:rPr lang="en-US" dirty="0"/>
              <a:t>Format</a:t>
            </a:r>
          </a:p>
          <a:p>
            <a:pPr lvl="1"/>
            <a:r>
              <a:rPr lang="en-US" i="1" dirty="0"/>
              <a:t>Time-based</a:t>
            </a:r>
          </a:p>
          <a:p>
            <a:pPr lvl="2"/>
            <a:r>
              <a:rPr lang="en-US" dirty="0"/>
              <a:t>Deadlock</a:t>
            </a:r>
          </a:p>
          <a:p>
            <a:pPr lvl="2"/>
            <a:r>
              <a:rPr lang="en-US" dirty="0"/>
              <a:t>Timeout</a:t>
            </a:r>
          </a:p>
        </p:txBody>
      </p:sp>
    </p:spTree>
    <p:extLst>
      <p:ext uri="{BB962C8B-B14F-4D97-AF65-F5344CB8AC3E}">
        <p14:creationId xmlns:p14="http://schemas.microsoft.com/office/powerpoint/2010/main" val="4222189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22FB6-8716-7133-986C-94D742189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6DEA3-A667-5DD5-93EE-7E920A9E3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13F33B-857C-5E18-4B54-8D8D9E7EFE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52193" y="1600200"/>
            <a:ext cx="7891166" cy="45720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[INFO] Saving new order...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[ERROR] Foreign key constraint violation.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Customer ID '9821' does not exist.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[INFO] Database transaction rolled back.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EBA894-A014-B42F-2D18-4041E84D0C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9276" y="1600200"/>
            <a:ext cx="2656380" cy="4572000"/>
          </a:xfrm>
        </p:spPr>
        <p:txBody>
          <a:bodyPr/>
          <a:lstStyle/>
          <a:p>
            <a:r>
              <a:rPr lang="en-US" dirty="0"/>
              <a:t>General types:</a:t>
            </a:r>
          </a:p>
          <a:p>
            <a:pPr lvl="1"/>
            <a:r>
              <a:rPr lang="en-US" i="1" dirty="0"/>
              <a:t>Programming/software</a:t>
            </a:r>
          </a:p>
          <a:p>
            <a:pPr lvl="2"/>
            <a:r>
              <a:rPr lang="en-US" dirty="0"/>
              <a:t>Syntax</a:t>
            </a:r>
          </a:p>
          <a:p>
            <a:pPr lvl="2"/>
            <a:r>
              <a:rPr lang="en-US" dirty="0"/>
              <a:t>Runtime</a:t>
            </a:r>
          </a:p>
          <a:p>
            <a:pPr lvl="2"/>
            <a:r>
              <a:rPr lang="en-US" dirty="0"/>
              <a:t>Logic</a:t>
            </a:r>
          </a:p>
          <a:p>
            <a:pPr lvl="1"/>
            <a:r>
              <a:rPr lang="en-US" i="1" dirty="0"/>
              <a:t>Permissions</a:t>
            </a:r>
          </a:p>
          <a:p>
            <a:pPr lvl="2"/>
            <a:r>
              <a:rPr lang="en-US" dirty="0"/>
              <a:t>Resource</a:t>
            </a:r>
          </a:p>
          <a:p>
            <a:pPr lvl="2"/>
            <a:r>
              <a:rPr lang="en-US" dirty="0"/>
              <a:t>Action</a:t>
            </a:r>
          </a:p>
          <a:p>
            <a:pPr lvl="1"/>
            <a:r>
              <a:rPr lang="en-US" i="1" dirty="0"/>
              <a:t>Data</a:t>
            </a:r>
          </a:p>
          <a:p>
            <a:pPr lvl="2"/>
            <a:r>
              <a:rPr lang="en-US" dirty="0"/>
              <a:t>Integrity</a:t>
            </a:r>
          </a:p>
          <a:p>
            <a:pPr lvl="2"/>
            <a:r>
              <a:rPr lang="en-US" dirty="0"/>
              <a:t>Format</a:t>
            </a:r>
          </a:p>
          <a:p>
            <a:pPr lvl="1"/>
            <a:r>
              <a:rPr lang="en-US" i="1" dirty="0"/>
              <a:t>Time-based</a:t>
            </a:r>
          </a:p>
          <a:p>
            <a:pPr lvl="2"/>
            <a:r>
              <a:rPr lang="en-US" dirty="0"/>
              <a:t>Deadlock</a:t>
            </a:r>
          </a:p>
          <a:p>
            <a:pPr lvl="2"/>
            <a:r>
              <a:rPr lang="en-US" dirty="0"/>
              <a:t>Timeout</a:t>
            </a:r>
          </a:p>
        </p:txBody>
      </p:sp>
    </p:spTree>
    <p:extLst>
      <p:ext uri="{BB962C8B-B14F-4D97-AF65-F5344CB8AC3E}">
        <p14:creationId xmlns:p14="http://schemas.microsoft.com/office/powerpoint/2010/main" val="1271334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CDD63-9BFC-1E25-DFD0-29884B407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C0E2C-39E4-C91F-327C-67BB482A9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623C26-DA29-0A92-1F38-E190AEF31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52193" y="1600200"/>
            <a:ext cx="7891166" cy="45720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[INFO] Connecting to remote service...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[INFO] Waiting for response...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[ERROR] Request timed out after 30 seconds.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ADD7AD9-4DD2-3450-6B22-A0CBEF8FCF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9276" y="1600200"/>
            <a:ext cx="2656380" cy="4572000"/>
          </a:xfrm>
        </p:spPr>
        <p:txBody>
          <a:bodyPr/>
          <a:lstStyle/>
          <a:p>
            <a:r>
              <a:rPr lang="en-US" dirty="0"/>
              <a:t>General types:</a:t>
            </a:r>
          </a:p>
          <a:p>
            <a:pPr lvl="1"/>
            <a:r>
              <a:rPr lang="en-US" i="1" dirty="0"/>
              <a:t>Programming/software</a:t>
            </a:r>
          </a:p>
          <a:p>
            <a:pPr lvl="2"/>
            <a:r>
              <a:rPr lang="en-US" dirty="0"/>
              <a:t>Syntax</a:t>
            </a:r>
          </a:p>
          <a:p>
            <a:pPr lvl="2"/>
            <a:r>
              <a:rPr lang="en-US" dirty="0"/>
              <a:t>Runtime</a:t>
            </a:r>
          </a:p>
          <a:p>
            <a:pPr lvl="2"/>
            <a:r>
              <a:rPr lang="en-US" dirty="0"/>
              <a:t>Logic</a:t>
            </a:r>
          </a:p>
          <a:p>
            <a:pPr lvl="1"/>
            <a:r>
              <a:rPr lang="en-US" i="1" dirty="0"/>
              <a:t>Permissions</a:t>
            </a:r>
          </a:p>
          <a:p>
            <a:pPr lvl="2"/>
            <a:r>
              <a:rPr lang="en-US" dirty="0"/>
              <a:t>Resource</a:t>
            </a:r>
          </a:p>
          <a:p>
            <a:pPr lvl="2"/>
            <a:r>
              <a:rPr lang="en-US" dirty="0"/>
              <a:t>Action</a:t>
            </a:r>
          </a:p>
          <a:p>
            <a:pPr lvl="1"/>
            <a:r>
              <a:rPr lang="en-US" i="1" dirty="0"/>
              <a:t>Data</a:t>
            </a:r>
          </a:p>
          <a:p>
            <a:pPr lvl="2"/>
            <a:r>
              <a:rPr lang="en-US" dirty="0"/>
              <a:t>Integrity</a:t>
            </a:r>
          </a:p>
          <a:p>
            <a:pPr lvl="2"/>
            <a:r>
              <a:rPr lang="en-US" dirty="0"/>
              <a:t>Format</a:t>
            </a:r>
          </a:p>
          <a:p>
            <a:pPr lvl="1"/>
            <a:r>
              <a:rPr lang="en-US" i="1" dirty="0"/>
              <a:t>Time-based</a:t>
            </a:r>
          </a:p>
          <a:p>
            <a:pPr lvl="2"/>
            <a:r>
              <a:rPr lang="en-US" dirty="0"/>
              <a:t>Deadlock</a:t>
            </a:r>
          </a:p>
          <a:p>
            <a:pPr lvl="2"/>
            <a:r>
              <a:rPr lang="en-US" dirty="0"/>
              <a:t>Timeout</a:t>
            </a:r>
          </a:p>
        </p:txBody>
      </p:sp>
    </p:spTree>
    <p:extLst>
      <p:ext uri="{BB962C8B-B14F-4D97-AF65-F5344CB8AC3E}">
        <p14:creationId xmlns:p14="http://schemas.microsoft.com/office/powerpoint/2010/main" val="751344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A48BC41-B7E0-0F60-67F3-E1532FE12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Spot the Issue…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5C1269E-5C21-4199-A859-E350F9E73B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629784"/>
            <a:ext cx="11170394" cy="4412639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4981954-3E95-12AC-D9BE-D401F9709FC7}"/>
              </a:ext>
            </a:extLst>
          </p:cNvPr>
          <p:cNvCxnSpPr/>
          <p:nvPr/>
        </p:nvCxnSpPr>
        <p:spPr>
          <a:xfrm flipH="1">
            <a:off x="5381297" y="3273799"/>
            <a:ext cx="4649367" cy="1124607"/>
          </a:xfrm>
          <a:prstGeom prst="straightConnector1">
            <a:avLst/>
          </a:prstGeom>
          <a:ln w="38100" cap="flat">
            <a:solidFill>
              <a:srgbClr val="CF0000"/>
            </a:solidFill>
            <a:miter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</p:cxnSp>
    </p:spTree>
    <p:extLst>
      <p:ext uri="{BB962C8B-B14F-4D97-AF65-F5344CB8AC3E}">
        <p14:creationId xmlns:p14="http://schemas.microsoft.com/office/powerpoint/2010/main" val="3231582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E394E-5C11-2C65-8C0B-473E08756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Spot the Issue…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1D851A7-1631-511A-6AAF-EA71B5E0C6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640" y="2566789"/>
            <a:ext cx="10470452" cy="2835527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120E53A-1DE5-FD5B-62CE-9858D9CBB20C}"/>
              </a:ext>
            </a:extLst>
          </p:cNvPr>
          <p:cNvCxnSpPr/>
          <p:nvPr/>
        </p:nvCxnSpPr>
        <p:spPr>
          <a:xfrm flipH="1">
            <a:off x="7914290" y="2304393"/>
            <a:ext cx="4649367" cy="1124607"/>
          </a:xfrm>
          <a:prstGeom prst="straightConnector1">
            <a:avLst/>
          </a:prstGeom>
          <a:ln w="38100" cap="flat">
            <a:solidFill>
              <a:srgbClr val="CF0000"/>
            </a:solidFill>
            <a:miter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</p:cxnSp>
    </p:spTree>
    <p:extLst>
      <p:ext uri="{BB962C8B-B14F-4D97-AF65-F5344CB8AC3E}">
        <p14:creationId xmlns:p14="http://schemas.microsoft.com/office/powerpoint/2010/main" val="3433404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EB591-FC5B-FB70-0731-91156470B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Spot the Issue…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E6137-9421-24C7-96D7-C86E74176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00199"/>
            <a:ext cx="11107332" cy="45720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│ Error: creating App Service Plan (Subscription: &lt;subscription-id&gt;│ Resource Group Name: "continuous-monitoring-rg-48343"│ Server Farm Name: "webapp-asp-2023-48343"): performing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CreateOrUpdate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unexpected status 409 (409 Conflict) with response: {"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Code":"Conflict","Message":"The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pricing tier 'Isolated' is not allowed in this resource group. Use this link to learn more: https://aka.ms/app-service-plan-scale-not-allowed","Target":null,"Details":[{"Message":"The pricing tier 'Isolated' is not allowed in this resource group. Use this link to learn more: https://aka.ms/app-service-plan-scale-not-allowed"},{"Code":"Conflict"},{"ErrorEntity":{"ExtendedCode":"04114","MessageTemplate":"The pricing tier '{0}' is not allowed in this resource group. Use this link to learn more: https://aka.ms/app-service-plan-scale-not-allowed","Parameters":["Isolated"],"Code":"Conflict","Message":"The pricing tier 'Isolated' is not allowed in this resource group. Use this link to learn more: https://aka.ms/app-service-plan-scale-not-allowed"}}],"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Innererror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":null}│ │   with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azurerm_service_plan.appserviceplan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,│   on main.tf line 71, in resource 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azurerm_service_plan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 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appserviceplan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":│   71: resource 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azurerm_service_plan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 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appserviceplan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 {│ │ creating App Service Plan (Subscription: &lt;subscription-id&gt;│ Resource Group Name: "continuous-monitoring-rg-48343"│ Server Farm Name: "webapp-asp-2023-48343"): performing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CreateOrUpdate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unexpected status 409 (409 Conflict) with response: {"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Code":"Conflict","Message":"The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pricing tier 'Isolated' is not allowed in this resource group. Use this link to learn more: https://aka.ms/app-service-plan-scale-not-allowed","Target":null,"Details":[{"Message":"The pricing tier 'Isolated' is not allowed in this resource group. Use this link to│ learn more: https://aka.ms/app-service-plan-scale-not-allowed"},{"Code":"Conflict"},{"ErrorEntity":{"ExtendedCode":"04114","MessageTemplate":"The pricing tier '{0}' is not allowed in this resource group. Use this link to learn more: https://aka.ms/app-service-plan-scale-not-allowed","Parameters":["Isolated"],"Code":"Conflict","Message":"The pricing tier 'Isolated' is not allowed in this resource group. Use this link to│ learn more: https://aka.ms/app-service-plan-scale-not-allowed"}}],"Innererror":null}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B659C1F-7F8B-58D2-ADA2-119FCB1A34EC}"/>
              </a:ext>
            </a:extLst>
          </p:cNvPr>
          <p:cNvCxnSpPr/>
          <p:nvPr/>
        </p:nvCxnSpPr>
        <p:spPr>
          <a:xfrm flipH="1">
            <a:off x="9942787" y="1325881"/>
            <a:ext cx="4649367" cy="1124607"/>
          </a:xfrm>
          <a:prstGeom prst="straightConnector1">
            <a:avLst/>
          </a:prstGeom>
          <a:ln w="38100" cap="flat">
            <a:solidFill>
              <a:srgbClr val="CF0000"/>
            </a:solidFill>
            <a:miter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0FA8CA3-7F76-99E6-990C-362F4FBD7E7F}"/>
              </a:ext>
            </a:extLst>
          </p:cNvPr>
          <p:cNvCxnSpPr/>
          <p:nvPr/>
        </p:nvCxnSpPr>
        <p:spPr>
          <a:xfrm flipH="1">
            <a:off x="3898783" y="3565264"/>
            <a:ext cx="4649367" cy="1124607"/>
          </a:xfrm>
          <a:prstGeom prst="straightConnector1">
            <a:avLst/>
          </a:prstGeom>
          <a:ln w="38100" cap="flat">
            <a:solidFill>
              <a:srgbClr val="CF0000"/>
            </a:solidFill>
            <a:miter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9332798-069B-3087-4172-746F9DD9D592}"/>
              </a:ext>
            </a:extLst>
          </p:cNvPr>
          <p:cNvCxnSpPr/>
          <p:nvPr/>
        </p:nvCxnSpPr>
        <p:spPr>
          <a:xfrm flipH="1">
            <a:off x="11235498" y="5321910"/>
            <a:ext cx="4649367" cy="1124607"/>
          </a:xfrm>
          <a:prstGeom prst="straightConnector1">
            <a:avLst/>
          </a:prstGeom>
          <a:ln w="38100" cap="flat">
            <a:solidFill>
              <a:srgbClr val="CF0000"/>
            </a:solidFill>
            <a:miter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</p:cxnSp>
    </p:spTree>
    <p:extLst>
      <p:ext uri="{BB962C8B-B14F-4D97-AF65-F5344CB8AC3E}">
        <p14:creationId xmlns:p14="http://schemas.microsoft.com/office/powerpoint/2010/main" val="3016198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EEB8E-C577-9601-4222-E2E36F295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Spot the Issue…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4671665-5351-711B-D634-79EAA55ABD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348" y="1783081"/>
            <a:ext cx="10707304" cy="3762729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992DAFB-C886-898C-D170-9B29CEE64578}"/>
              </a:ext>
            </a:extLst>
          </p:cNvPr>
          <p:cNvCxnSpPr>
            <a:cxnSpLocks/>
          </p:cNvCxnSpPr>
          <p:nvPr/>
        </p:nvCxnSpPr>
        <p:spPr>
          <a:xfrm flipH="1">
            <a:off x="4007984" y="4249270"/>
            <a:ext cx="4576618" cy="593570"/>
          </a:xfrm>
          <a:prstGeom prst="straightConnector1">
            <a:avLst/>
          </a:prstGeom>
          <a:ln w="38100" cap="flat">
            <a:solidFill>
              <a:srgbClr val="CF0000"/>
            </a:solidFill>
            <a:miter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</p:cxnSp>
    </p:spTree>
    <p:extLst>
      <p:ext uri="{BB962C8B-B14F-4D97-AF65-F5344CB8AC3E}">
        <p14:creationId xmlns:p14="http://schemas.microsoft.com/office/powerpoint/2010/main" val="4126272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DF558-33C3-3353-4B1C-9FB05ED03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C38EF-B09F-3678-9C75-9AC244E4F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00199"/>
            <a:ext cx="5095415" cy="45720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Bottom-up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Top-down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Bottom, top, down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Skim to error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ym typeface="Wingdings" panose="05000000000000000000" pitchFamily="2" charset="2"/>
              </a:rPr>
              <a:t>Chronological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703F5C-0D6A-A7F2-09C5-68EE825BB955}"/>
              </a:ext>
            </a:extLst>
          </p:cNvPr>
          <p:cNvSpPr txBox="1"/>
          <p:nvPr/>
        </p:nvSpPr>
        <p:spPr>
          <a:xfrm>
            <a:off x="4014951" y="3681248"/>
            <a:ext cx="832419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2026-07-08 10:14:22 [INFO] User login initiated.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2026-07-08 10:14:23 [INFO] Connecting to database...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2026-07-08 10:14:28 [ERROR] Connection timed out after 5 seconds.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2026-07-08 10:14:28 [INFO] Retrying connection...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2026-07-08 10:14:34 [INFO] Connection established.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2026-07-08 10:14:35 [INFO] Loading user profile...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2026-07-08 10:14:35 [ERROR] Permission denied: User lacks PROFILE_READ permission.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2026-07-08 10:14:35 [INFO] Returning HTTP 403 Forbidden.</a:t>
            </a:r>
          </a:p>
        </p:txBody>
      </p:sp>
    </p:spTree>
    <p:extLst>
      <p:ext uri="{BB962C8B-B14F-4D97-AF65-F5344CB8AC3E}">
        <p14:creationId xmlns:p14="http://schemas.microsoft.com/office/powerpoint/2010/main" val="26713563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B9794-0AC6-933F-C8C4-A2C6C4608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70F2C-A5CF-ADEF-BB96-AE37AEB59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698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B07FD-2C85-D8E1-B4A7-5C2B83EC7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1B84A-AC40-8C57-ED9B-49DF54A1F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with a purpose</a:t>
            </a:r>
          </a:p>
          <a:p>
            <a:r>
              <a:rPr lang="en-US" dirty="0"/>
              <a:t>Be like Goldilocks when you’re skimming</a:t>
            </a:r>
          </a:p>
          <a:p>
            <a:r>
              <a:rPr lang="en-US" dirty="0"/>
              <a:t>Slow </a:t>
            </a:r>
            <a:r>
              <a:rPr lang="en-US"/>
              <a:t>is smooth…</a:t>
            </a:r>
            <a:endParaRPr lang="en-US" dirty="0"/>
          </a:p>
        </p:txBody>
      </p:sp>
      <p:pic>
        <p:nvPicPr>
          <p:cNvPr id="4" name="Picture 3" descr="devhumormemes - programming memes">
            <a:extLst>
              <a:ext uri="{FF2B5EF4-FFF2-40B4-BE49-F238E27FC236}">
                <a16:creationId xmlns:a16="http://schemas.microsoft.com/office/drawing/2014/main" id="{C722D922-DFF1-3E04-501C-4D425766A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41" y="1299076"/>
            <a:ext cx="5156993" cy="514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852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BCFAC-A47D-DB2A-94A1-532EA58EE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04368-D538-96CF-7ACF-DD3EE168D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[command] --help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man [command]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 descr="Reading documentation - Imgflip">
            <a:extLst>
              <a:ext uri="{FF2B5EF4-FFF2-40B4-BE49-F238E27FC236}">
                <a16:creationId xmlns:a16="http://schemas.microsoft.com/office/drawing/2014/main" id="{7054A8E7-D78C-AEA4-311D-509B8ABBA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7673" y="1757113"/>
            <a:ext cx="3966999" cy="377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902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D23A5-5003-524D-C8E8-B1D433424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57D57-D7D6-53A3-10B6-8032522FF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Сomics meme: &quot;read read the the documentation documentation read the ...">
            <a:extLst>
              <a:ext uri="{FF2B5EF4-FFF2-40B4-BE49-F238E27FC236}">
                <a16:creationId xmlns:a16="http://schemas.microsoft.com/office/drawing/2014/main" id="{DD9EDCDF-34B9-3334-E1B3-887345D7F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8446" y="1299077"/>
            <a:ext cx="3697646" cy="5147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8892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BBCE9-3627-90CF-ADC5-FB1F40536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00833-0CAC-8541-F8D8-98E571259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Best to refer to official docs</a:t>
            </a:r>
          </a:p>
          <a:p>
            <a:r>
              <a:rPr lang="en-US" dirty="0"/>
              <a:t>If official docs are not “readable”, defer to official tutorials</a:t>
            </a:r>
          </a:p>
          <a:p>
            <a:r>
              <a:rPr lang="en-US" dirty="0"/>
              <a:t>Then online tutorials / guides</a:t>
            </a:r>
          </a:p>
          <a:p>
            <a:endParaRPr lang="en-US" dirty="0"/>
          </a:p>
        </p:txBody>
      </p:sp>
      <p:pic>
        <p:nvPicPr>
          <p:cNvPr id="4" name="Picture 3" descr="How Many Different Ways To Say, 'Have You Tried Turning It Off And On ...">
            <a:extLst>
              <a:ext uri="{FF2B5EF4-FFF2-40B4-BE49-F238E27FC236}">
                <a16:creationId xmlns:a16="http://schemas.microsoft.com/office/drawing/2014/main" id="{8919BCA2-323D-01F3-A302-E9704D42A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761" y="2459154"/>
            <a:ext cx="5182133" cy="39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1708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4F2DF-A06A-E40D-DDFE-C600C320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EAC7A-C4A2-17E9-C2BA-92796270A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Built-in Functions — Python 3.14.6 documentation</a:t>
            </a:r>
            <a:endParaRPr lang="en-US" dirty="0"/>
          </a:p>
          <a:p>
            <a:r>
              <a:rPr lang="en-US" dirty="0">
                <a:hlinkClick r:id="rId3"/>
              </a:rPr>
              <a:t>Docker Docs</a:t>
            </a:r>
            <a:endParaRPr lang="en-US" dirty="0"/>
          </a:p>
          <a:p>
            <a:r>
              <a:rPr lang="en-US" dirty="0">
                <a:hlinkClick r:id="rId4"/>
              </a:rPr>
              <a:t>Azure Command-Line Interface (CLI) documentation | Microsoft Learn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 descr="The best Coding memes :) Memedroid">
            <a:extLst>
              <a:ext uri="{FF2B5EF4-FFF2-40B4-BE49-F238E27FC236}">
                <a16:creationId xmlns:a16="http://schemas.microsoft.com/office/drawing/2014/main" id="{47682BBC-B64E-4E1A-351B-5E8508B98B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3776" y="1299076"/>
            <a:ext cx="4375916" cy="514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4629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C6BDB-CF9A-E065-D1A3-B23B04599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in Lending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0A6B0-A361-9806-D9C3-97112C9B8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UI/UX come from software</a:t>
            </a:r>
          </a:p>
          <a:p>
            <a:r>
              <a:rPr lang="en-US" dirty="0"/>
              <a:t>Software is written by humans</a:t>
            </a:r>
          </a:p>
          <a:p>
            <a:r>
              <a:rPr lang="en-US" dirty="0"/>
              <a:t>Humans are… human</a:t>
            </a:r>
          </a:p>
          <a:p>
            <a:pPr lvl="1"/>
            <a:r>
              <a:rPr lang="en-US" dirty="0"/>
              <a:t>Cannot anticipate all outcomes</a:t>
            </a:r>
          </a:p>
          <a:p>
            <a:pPr lvl="1"/>
            <a:r>
              <a:rPr lang="en-US" dirty="0"/>
              <a:t>Cannot anticipate the myriad of ways users will mess it up</a:t>
            </a:r>
          </a:p>
          <a:p>
            <a:pPr lvl="1"/>
            <a:r>
              <a:rPr lang="en-US" dirty="0"/>
              <a:t>Sometimes wrong! 🤷</a:t>
            </a:r>
          </a:p>
          <a:p>
            <a:endParaRPr lang="en-US" dirty="0"/>
          </a:p>
        </p:txBody>
      </p:sp>
      <p:pic>
        <p:nvPicPr>
          <p:cNvPr id="4" name="Picture 3" descr="Just read the Documentation. : r/ProgrammerHumor">
            <a:extLst>
              <a:ext uri="{FF2B5EF4-FFF2-40B4-BE49-F238E27FC236}">
                <a16:creationId xmlns:a16="http://schemas.microsoft.com/office/drawing/2014/main" id="{B89BBCCA-C8F7-D934-C19B-34E7D51C4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3776" y="1325881"/>
            <a:ext cx="4162491" cy="514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346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BCC3E-3DC9-E773-3FF1-CDF396B7E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Following 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64104-7D38-7412-6BCE-1796D82C1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Precision matters</a:t>
            </a:r>
          </a:p>
          <a:p>
            <a:r>
              <a:rPr lang="en-US" dirty="0"/>
              <a:t>Order matters</a:t>
            </a:r>
          </a:p>
          <a:p>
            <a:r>
              <a:rPr lang="en-US" dirty="0"/>
              <a:t>Slow is smooth…</a:t>
            </a:r>
          </a:p>
          <a:p>
            <a:r>
              <a:rPr lang="en-US" dirty="0"/>
              <a:t>Validate where possible</a:t>
            </a:r>
          </a:p>
          <a:p>
            <a:endParaRPr lang="en-US" dirty="0"/>
          </a:p>
        </p:txBody>
      </p:sp>
      <p:pic>
        <p:nvPicPr>
          <p:cNvPr id="4" name="Picture 3" descr="readingDocs – ProgrammerHumor.io">
            <a:extLst>
              <a:ext uri="{FF2B5EF4-FFF2-40B4-BE49-F238E27FC236}">
                <a16:creationId xmlns:a16="http://schemas.microsoft.com/office/drawing/2014/main" id="{E9CF252F-63BE-2197-247B-FD4189592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299" y="1299076"/>
            <a:ext cx="4039267" cy="514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3128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186D-DF81-D739-0809-1628F315E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#2</a:t>
            </a:r>
          </a:p>
        </p:txBody>
      </p:sp>
      <p:pic>
        <p:nvPicPr>
          <p:cNvPr id="4" name="Content Placeholder 3" descr="Gentlemens, it is with great pleasure that I inform you that i solved a ...">
            <a:extLst>
              <a:ext uri="{FF2B5EF4-FFF2-40B4-BE49-F238E27FC236}">
                <a16:creationId xmlns:a16="http://schemas.microsoft.com/office/drawing/2014/main" id="{DC54E3FF-93BA-9757-FAD2-1026FEEBA4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2307" y="1545513"/>
            <a:ext cx="7571499" cy="4252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183630"/>
      </p:ext>
    </p:extLst>
  </p:cSld>
  <p:clrMapOvr>
    <a:masterClrMapping/>
  </p:clrMapOvr>
</p:sld>
</file>

<file path=ppt/theme/theme1.xml><?xml version="1.0" encoding="utf-8"?>
<a:theme xmlns:a="http://schemas.openxmlformats.org/drawingml/2006/main" name="1_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AI2C Slide Template</Template>
  <TotalTime>1266</TotalTime>
  <Words>1077</Words>
  <Application>Microsoft Office PowerPoint</Application>
  <PresentationFormat>Widescreen</PresentationFormat>
  <Paragraphs>166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Arial</vt:lpstr>
      <vt:lpstr>Arial Bold</vt:lpstr>
      <vt:lpstr>Courier New</vt:lpstr>
      <vt:lpstr>Wingdings</vt:lpstr>
      <vt:lpstr>1_US Army 2023 AFC DEVCOM Logo</vt:lpstr>
      <vt:lpstr>Reading</vt:lpstr>
      <vt:lpstr>Lesson Objectives</vt:lpstr>
      <vt:lpstr>UI / UX</vt:lpstr>
      <vt:lpstr>To Be Success… Or Not To Be Success…</vt:lpstr>
      <vt:lpstr>Messages</vt:lpstr>
      <vt:lpstr>(Error) Messages</vt:lpstr>
      <vt:lpstr>Examples…</vt:lpstr>
      <vt:lpstr>Examples…</vt:lpstr>
      <vt:lpstr>Examples…</vt:lpstr>
      <vt:lpstr>Examples…</vt:lpstr>
      <vt:lpstr>Examples…</vt:lpstr>
      <vt:lpstr>Spot the Issue…</vt:lpstr>
      <vt:lpstr>Spot the Issue…</vt:lpstr>
      <vt:lpstr>Spot the Issue…</vt:lpstr>
      <vt:lpstr>Spot the Issue…</vt:lpstr>
      <vt:lpstr>General Strategies</vt:lpstr>
      <vt:lpstr>Hands-On #1</vt:lpstr>
      <vt:lpstr>Documentation</vt:lpstr>
      <vt:lpstr>Command Line</vt:lpstr>
      <vt:lpstr>CLI Examples</vt:lpstr>
      <vt:lpstr>Online</vt:lpstr>
      <vt:lpstr>Online Examples</vt:lpstr>
      <vt:lpstr>Truth in Lending</vt:lpstr>
      <vt:lpstr>Following Documentation</vt:lpstr>
      <vt:lpstr>Hands-On #2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Shafer</dc:creator>
  <cp:lastModifiedBy>Ethan Shafer</cp:lastModifiedBy>
  <cp:revision>177</cp:revision>
  <dcterms:created xsi:type="dcterms:W3CDTF">2025-09-17T14:29:17Z</dcterms:created>
  <dcterms:modified xsi:type="dcterms:W3CDTF">2026-07-10T18:35:34Z</dcterms:modified>
</cp:coreProperties>
</file>